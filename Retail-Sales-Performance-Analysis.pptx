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4630400" cy="8229600"/>
  <p:notesSz cx="8229600" cy="14630400"/>
  <p:embeddedFontLst>
    <p:embeddedFont>
      <p:font typeface="Inter"/>
      <p:regular r:id="rId17"/>
    </p:embeddedFont>
    <p:embeddedFont>
      <p:font typeface="Inter"/>
      <p:regular r:id="rId18"/>
    </p:embeddedFont>
    <p:embeddedFont>
      <p:font typeface="Inter"/>
      <p:regular r:id="rId19"/>
    </p:embeddedFont>
    <p:embeddedFont>
      <p:font typeface="Inter"/>
      <p:regular r:id="rId20"/>
    </p:embeddedFont>
    <p:embeddedFont>
      <p:font typeface="Manrope"/>
      <p:regular r:id="rId21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3-1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4-1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5-1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7-1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8-1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9-1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10-1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11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0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8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9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691527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Sales Performance Analysis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4449247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Analyzing retail sales performance using Python, SQL, and Power BI to uncover key insights across profitability, customer behavior, and operational efficiency from 2014-2017 Superstore data.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2784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Objectives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1990249"/>
            <a:ext cx="6407944" cy="2592348"/>
          </a:xfrm>
          <a:prstGeom prst="roundRect">
            <a:avLst>
              <a:gd name="adj" fmla="val 7875"/>
            </a:avLst>
          </a:prstGeom>
          <a:solidFill>
            <a:srgbClr val="FFFFFF"/>
          </a:solidFill>
          <a:ln w="7620">
            <a:solidFill>
              <a:srgbClr val="FF704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224" y="2224683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FF704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5390" y="2411730"/>
            <a:ext cx="306110" cy="3061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8224" y="313193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&amp; Profitability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028224" y="3622358"/>
            <a:ext cx="593907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Evaluate performance across categories, regions, and customer segments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7428548" y="1990249"/>
            <a:ext cx="6408063" cy="2592348"/>
          </a:xfrm>
          <a:prstGeom prst="roundRect">
            <a:avLst>
              <a:gd name="adj" fmla="val 7875"/>
            </a:avLst>
          </a:prstGeom>
          <a:solidFill>
            <a:srgbClr val="FFFFFF"/>
          </a:solidFill>
          <a:ln w="7620">
            <a:solidFill>
              <a:srgbClr val="FF704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62982" y="2224683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FF704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50148" y="2411730"/>
            <a:ext cx="306110" cy="3061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62982" y="3131939"/>
            <a:ext cx="286345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Performance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7662982" y="3622358"/>
            <a:ext cx="593919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Identify top and underperforming products and states</a:t>
            </a:r>
            <a:endParaRPr lang="en-US" sz="1750" dirty="0"/>
          </a:p>
        </p:txBody>
      </p:sp>
      <p:sp>
        <p:nvSpPr>
          <p:cNvPr id="13" name="Shape 9"/>
          <p:cNvSpPr/>
          <p:nvPr/>
        </p:nvSpPr>
        <p:spPr>
          <a:xfrm>
            <a:off x="793790" y="4809411"/>
            <a:ext cx="6407944" cy="2592348"/>
          </a:xfrm>
          <a:prstGeom prst="roundRect">
            <a:avLst>
              <a:gd name="adj" fmla="val 7875"/>
            </a:avLst>
          </a:prstGeom>
          <a:solidFill>
            <a:srgbClr val="FFFFFF"/>
          </a:solidFill>
          <a:ln w="7620">
            <a:solidFill>
              <a:srgbClr val="FF704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028224" y="504384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FF7047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5390" y="5230892"/>
            <a:ext cx="306110" cy="3061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28224" y="595110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Impact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1028224" y="6441519"/>
            <a:ext cx="593907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Assess discount and shipping mode effects on profit</a:t>
            </a:r>
            <a:endParaRPr lang="en-US" sz="1750" dirty="0"/>
          </a:p>
        </p:txBody>
      </p:sp>
      <p:sp>
        <p:nvSpPr>
          <p:cNvPr id="18" name="Shape 13"/>
          <p:cNvSpPr/>
          <p:nvPr/>
        </p:nvSpPr>
        <p:spPr>
          <a:xfrm>
            <a:off x="7428548" y="4809411"/>
            <a:ext cx="6408063" cy="2592348"/>
          </a:xfrm>
          <a:prstGeom prst="roundRect">
            <a:avLst>
              <a:gd name="adj" fmla="val 7875"/>
            </a:avLst>
          </a:prstGeom>
          <a:solidFill>
            <a:srgbClr val="FFFFFF"/>
          </a:solidFill>
          <a:ln w="7620">
            <a:solidFill>
              <a:srgbClr val="FF7047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662982" y="5043845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FF7047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50148" y="5230892"/>
            <a:ext cx="306110" cy="30611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662982" y="595110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Insights</a:t>
            </a:r>
            <a:endParaRPr lang="en-US" sz="2200" dirty="0"/>
          </a:p>
        </p:txBody>
      </p:sp>
      <p:sp>
        <p:nvSpPr>
          <p:cNvPr id="22" name="Text 16"/>
          <p:cNvSpPr/>
          <p:nvPr/>
        </p:nvSpPr>
        <p:spPr>
          <a:xfrm>
            <a:off x="7662982" y="6441519"/>
            <a:ext cx="593919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 Power BI dashboards for data-driven decision-making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674031"/>
            <a:ext cx="686550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&amp; Dataset Overview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494978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 Stack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553092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Python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– Data cleaning, transformation, and EDA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793790" y="5973128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MySQL (XAMPP)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– Deep analytical queries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793790" y="6415326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Power BI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– Dashboard creation and KPI tracking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793790" y="685752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Excel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– Data validation and preliminary analysis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7599521" y="4949785"/>
            <a:ext cx="300061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Dataset Specifications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599521" y="553092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10,000 rows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across </a:t>
            </a:r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26 columns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7599521" y="6097905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Includes order details, customer segments, product categories, sales, profit, discount, quantity, and shipping information spanning 2014-2017.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3891" y="810220"/>
            <a:ext cx="7319605" cy="5837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50"/>
              </a:lnSpc>
              <a:buNone/>
            </a:pPr>
            <a:r>
              <a:rPr lang="en-US" sz="36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Analysis: Key Discoveries</a:t>
            </a:r>
            <a:endParaRPr lang="en-US" sz="3650" dirty="0"/>
          </a:p>
        </p:txBody>
      </p:sp>
      <p:sp>
        <p:nvSpPr>
          <p:cNvPr id="3" name="Shape 1"/>
          <p:cNvSpPr/>
          <p:nvPr/>
        </p:nvSpPr>
        <p:spPr>
          <a:xfrm>
            <a:off x="653891" y="2047756"/>
            <a:ext cx="6567845" cy="1678424"/>
          </a:xfrm>
          <a:prstGeom prst="roundRect">
            <a:avLst>
              <a:gd name="adj" fmla="val 6538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653891" y="2024896"/>
            <a:ext cx="6567845" cy="91440"/>
          </a:xfrm>
          <a:prstGeom prst="roundRect">
            <a:avLst>
              <a:gd name="adj" fmla="val 183902"/>
            </a:avLst>
          </a:prstGeom>
          <a:solidFill>
            <a:srgbClr val="FF704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540" y="1767602"/>
            <a:ext cx="560427" cy="560427"/>
          </a:xfrm>
          <a:prstGeom prst="roundRect">
            <a:avLst>
              <a:gd name="adj" fmla="val 163161"/>
            </a:avLst>
          </a:prstGeom>
          <a:solidFill>
            <a:srgbClr val="FF7047"/>
          </a:solidFill>
          <a:ln/>
        </p:spPr>
      </p:sp>
      <p:sp>
        <p:nvSpPr>
          <p:cNvPr id="6" name="Text 4"/>
          <p:cNvSpPr/>
          <p:nvPr/>
        </p:nvSpPr>
        <p:spPr>
          <a:xfrm>
            <a:off x="3825657" y="1907738"/>
            <a:ext cx="224195" cy="2801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63560" y="2514838"/>
            <a:ext cx="2583180" cy="291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Sales-Profit Correlation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3560" y="2918817"/>
            <a:ext cx="6148507" cy="597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Moderate positive correlation, but high Furniture sales lead to losses due to shipping and discounts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408545" y="2047756"/>
            <a:ext cx="6567964" cy="1678424"/>
          </a:xfrm>
          <a:prstGeom prst="roundRect">
            <a:avLst>
              <a:gd name="adj" fmla="val 6538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7408545" y="2024896"/>
            <a:ext cx="6567964" cy="91440"/>
          </a:xfrm>
          <a:prstGeom prst="roundRect">
            <a:avLst>
              <a:gd name="adj" fmla="val 183902"/>
            </a:avLst>
          </a:prstGeom>
          <a:solidFill>
            <a:srgbClr val="FF7047"/>
          </a:solidFill>
          <a:ln/>
        </p:spPr>
      </p:sp>
      <p:sp>
        <p:nvSpPr>
          <p:cNvPr id="11" name="Shape 9"/>
          <p:cNvSpPr/>
          <p:nvPr/>
        </p:nvSpPr>
        <p:spPr>
          <a:xfrm>
            <a:off x="10412313" y="1767602"/>
            <a:ext cx="560427" cy="560427"/>
          </a:xfrm>
          <a:prstGeom prst="roundRect">
            <a:avLst>
              <a:gd name="adj" fmla="val 163161"/>
            </a:avLst>
          </a:prstGeom>
          <a:solidFill>
            <a:srgbClr val="FF7047"/>
          </a:solidFill>
          <a:ln/>
        </p:spPr>
      </p:sp>
      <p:sp>
        <p:nvSpPr>
          <p:cNvPr id="12" name="Text 10"/>
          <p:cNvSpPr/>
          <p:nvPr/>
        </p:nvSpPr>
        <p:spPr>
          <a:xfrm>
            <a:off x="10580430" y="1907738"/>
            <a:ext cx="224195" cy="2801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618214" y="2514838"/>
            <a:ext cx="2443758" cy="291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Regional Performance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618214" y="2918817"/>
            <a:ext cx="6148626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West region most profitable; South underperforming significantly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53891" y="4193143"/>
            <a:ext cx="6567845" cy="1379577"/>
          </a:xfrm>
          <a:prstGeom prst="roundRect">
            <a:avLst>
              <a:gd name="adj" fmla="val 7954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53891" y="4170283"/>
            <a:ext cx="6567845" cy="91440"/>
          </a:xfrm>
          <a:prstGeom prst="roundRect">
            <a:avLst>
              <a:gd name="adj" fmla="val 183902"/>
            </a:avLst>
          </a:prstGeom>
          <a:solidFill>
            <a:srgbClr val="FF7047"/>
          </a:solidFill>
          <a:ln/>
        </p:spPr>
      </p:sp>
      <p:sp>
        <p:nvSpPr>
          <p:cNvPr id="17" name="Shape 15"/>
          <p:cNvSpPr/>
          <p:nvPr/>
        </p:nvSpPr>
        <p:spPr>
          <a:xfrm>
            <a:off x="3657540" y="3912989"/>
            <a:ext cx="560427" cy="560427"/>
          </a:xfrm>
          <a:prstGeom prst="roundRect">
            <a:avLst>
              <a:gd name="adj" fmla="val 163161"/>
            </a:avLst>
          </a:prstGeom>
          <a:solidFill>
            <a:srgbClr val="FF7047"/>
          </a:solidFill>
          <a:ln/>
        </p:spPr>
      </p:sp>
      <p:sp>
        <p:nvSpPr>
          <p:cNvPr id="18" name="Text 16"/>
          <p:cNvSpPr/>
          <p:nvPr/>
        </p:nvSpPr>
        <p:spPr>
          <a:xfrm>
            <a:off x="3825657" y="4053126"/>
            <a:ext cx="224195" cy="2801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863560" y="4660225"/>
            <a:ext cx="2335530" cy="291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Sales States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3560" y="5064204"/>
            <a:ext cx="6148507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California, New York, and Texas dominate sales volume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7408545" y="4193143"/>
            <a:ext cx="6567964" cy="1379577"/>
          </a:xfrm>
          <a:prstGeom prst="roundRect">
            <a:avLst>
              <a:gd name="adj" fmla="val 7954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7408545" y="4170283"/>
            <a:ext cx="6567964" cy="91440"/>
          </a:xfrm>
          <a:prstGeom prst="roundRect">
            <a:avLst>
              <a:gd name="adj" fmla="val 183902"/>
            </a:avLst>
          </a:prstGeom>
          <a:solidFill>
            <a:srgbClr val="FF7047"/>
          </a:solidFill>
          <a:ln/>
        </p:spPr>
      </p:sp>
      <p:sp>
        <p:nvSpPr>
          <p:cNvPr id="23" name="Shape 21"/>
          <p:cNvSpPr/>
          <p:nvPr/>
        </p:nvSpPr>
        <p:spPr>
          <a:xfrm>
            <a:off x="10412313" y="3912989"/>
            <a:ext cx="560427" cy="560427"/>
          </a:xfrm>
          <a:prstGeom prst="roundRect">
            <a:avLst>
              <a:gd name="adj" fmla="val 163161"/>
            </a:avLst>
          </a:prstGeom>
          <a:solidFill>
            <a:srgbClr val="FF7047"/>
          </a:solidFill>
          <a:ln/>
        </p:spPr>
      </p:sp>
      <p:sp>
        <p:nvSpPr>
          <p:cNvPr id="24" name="Text 22"/>
          <p:cNvSpPr/>
          <p:nvPr/>
        </p:nvSpPr>
        <p:spPr>
          <a:xfrm>
            <a:off x="10580430" y="4053126"/>
            <a:ext cx="224195" cy="2801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750" dirty="0"/>
          </a:p>
        </p:txBody>
      </p:sp>
      <p:sp>
        <p:nvSpPr>
          <p:cNvPr id="25" name="Text 23"/>
          <p:cNvSpPr/>
          <p:nvPr/>
        </p:nvSpPr>
        <p:spPr>
          <a:xfrm>
            <a:off x="7618214" y="4660225"/>
            <a:ext cx="2335530" cy="291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Seasonal Trends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618214" y="5064204"/>
            <a:ext cx="6148626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Sales peak October-December, reflecting holiday shopping patterns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53891" y="6039683"/>
            <a:ext cx="6567845" cy="1379577"/>
          </a:xfrm>
          <a:prstGeom prst="roundRect">
            <a:avLst>
              <a:gd name="adj" fmla="val 7954"/>
            </a:avLst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653891" y="6016823"/>
            <a:ext cx="6567845" cy="91440"/>
          </a:xfrm>
          <a:prstGeom prst="roundRect">
            <a:avLst>
              <a:gd name="adj" fmla="val 183902"/>
            </a:avLst>
          </a:prstGeom>
          <a:solidFill>
            <a:srgbClr val="FF7047"/>
          </a:solidFill>
          <a:ln/>
        </p:spPr>
      </p:sp>
      <p:sp>
        <p:nvSpPr>
          <p:cNvPr id="29" name="Shape 27"/>
          <p:cNvSpPr/>
          <p:nvPr/>
        </p:nvSpPr>
        <p:spPr>
          <a:xfrm>
            <a:off x="3657540" y="5759529"/>
            <a:ext cx="560427" cy="560427"/>
          </a:xfrm>
          <a:prstGeom prst="roundRect">
            <a:avLst>
              <a:gd name="adj" fmla="val 163161"/>
            </a:avLst>
          </a:prstGeom>
          <a:solidFill>
            <a:srgbClr val="FF7047"/>
          </a:solidFill>
          <a:ln/>
        </p:spPr>
      </p:sp>
      <p:sp>
        <p:nvSpPr>
          <p:cNvPr id="30" name="Text 28"/>
          <p:cNvSpPr/>
          <p:nvPr/>
        </p:nvSpPr>
        <p:spPr>
          <a:xfrm>
            <a:off x="3825657" y="5899666"/>
            <a:ext cx="224195" cy="2801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750" dirty="0"/>
          </a:p>
        </p:txBody>
      </p:sp>
      <p:sp>
        <p:nvSpPr>
          <p:cNvPr id="31" name="Text 29"/>
          <p:cNvSpPr/>
          <p:nvPr/>
        </p:nvSpPr>
        <p:spPr>
          <a:xfrm>
            <a:off x="863560" y="6506766"/>
            <a:ext cx="2335530" cy="291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 Leaders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63560" y="6910745"/>
            <a:ext cx="6148507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Corporate customers drive most profit; Home Office performs least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7408545" y="6039683"/>
            <a:ext cx="6567964" cy="1379577"/>
          </a:xfrm>
          <a:prstGeom prst="roundRect">
            <a:avLst>
              <a:gd name="adj" fmla="val 7954"/>
            </a:avLst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7408545" y="6016823"/>
            <a:ext cx="6567964" cy="91440"/>
          </a:xfrm>
          <a:prstGeom prst="roundRect">
            <a:avLst>
              <a:gd name="adj" fmla="val 183902"/>
            </a:avLst>
          </a:prstGeom>
          <a:solidFill>
            <a:srgbClr val="FF7047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12313" y="5759529"/>
            <a:ext cx="560427" cy="560427"/>
          </a:xfrm>
          <a:prstGeom prst="roundRect">
            <a:avLst>
              <a:gd name="adj" fmla="val 163161"/>
            </a:avLst>
          </a:prstGeom>
          <a:solidFill>
            <a:srgbClr val="FF7047"/>
          </a:solidFill>
          <a:ln/>
        </p:spPr>
      </p:sp>
      <p:sp>
        <p:nvSpPr>
          <p:cNvPr id="36" name="Text 34"/>
          <p:cNvSpPr/>
          <p:nvPr/>
        </p:nvSpPr>
        <p:spPr>
          <a:xfrm>
            <a:off x="10580430" y="5899666"/>
            <a:ext cx="224195" cy="2801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7618214" y="6506766"/>
            <a:ext cx="2335530" cy="291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 Winners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618214" y="6910745"/>
            <a:ext cx="6148626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Technology most profitable; Furniture often incurs losses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5057" y="357545"/>
            <a:ext cx="4957286" cy="406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5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Performance Deep Dive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455057" y="1088827"/>
            <a:ext cx="1625322" cy="210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🏆</a:t>
            </a:r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Top Performers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5057" y="1429583"/>
            <a:ext cx="6701552" cy="208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FF704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High-Profit Sub-Categories: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5057" y="1754505"/>
            <a:ext cx="6701552" cy="208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0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Phones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5057" y="2007989"/>
            <a:ext cx="6701552" cy="208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0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Accessories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5057" y="2261473"/>
            <a:ext cx="6701552" cy="208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0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Copiers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5057" y="2615684"/>
            <a:ext cx="6701552" cy="670155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81411" y="1088827"/>
            <a:ext cx="1625322" cy="210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⚠️</a:t>
            </a:r>
            <a:pPr algn="l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Loss Makers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81411" y="1429583"/>
            <a:ext cx="6701552" cy="208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FFA64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Underperforming Sub-Categories: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481411" y="1754505"/>
            <a:ext cx="6701552" cy="208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0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Tables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481411" y="2007989"/>
            <a:ext cx="6701552" cy="208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0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Bookcases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481411" y="2261473"/>
            <a:ext cx="6701552" cy="208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600"/>
              </a:lnSpc>
              <a:buSzPct val="100000"/>
              <a:buChar char="•"/>
            </a:pPr>
            <a:r>
              <a:rPr lang="en-US" sz="10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Supplies</a:t>
            </a:r>
            <a:endParaRPr lang="en-US" sz="10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411" y="2615684"/>
            <a:ext cx="6701552" cy="670155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5057" y="9609653"/>
            <a:ext cx="13720286" cy="208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Shipping efficiency remains strong with most orders delivered in 3-5 days, reflecting robust logistics operations.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420779"/>
            <a:ext cx="635448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 Analysis Highlights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86667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KPIs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357092"/>
            <a:ext cx="304800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Calculated total sales, profit, and quantity for comprehensive performance tracking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4125278" y="386667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Trend Analysis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125278" y="4357092"/>
            <a:ext cx="304811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Monthly sales and profit patterns identified for strategic planning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456884" y="386667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 Breakdown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456884" y="4357092"/>
            <a:ext cx="304811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Sales and profit computed by category and sub-category for comparison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0788491" y="386667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Geographic Insights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788491" y="4357092"/>
            <a:ext cx="304811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Region and state performance measured to highlight strong and weak areas</a:t>
            </a:r>
            <a:endParaRPr lang="en-US" sz="1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666" y="941070"/>
            <a:ext cx="6313646" cy="677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00"/>
              </a:lnSpc>
              <a:buNone/>
            </a:pPr>
            <a:r>
              <a:rPr lang="en-US" sz="42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Advanced SQL Analytics</a:t>
            </a:r>
            <a:endParaRPr lang="en-US" sz="42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8666" y="2079188"/>
            <a:ext cx="216694" cy="21669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58666" y="2390061"/>
            <a:ext cx="6448187" cy="30480"/>
          </a:xfrm>
          <a:prstGeom prst="rect">
            <a:avLst/>
          </a:prstGeom>
          <a:solidFill>
            <a:srgbClr val="FF7047"/>
          </a:solidFill>
          <a:ln/>
        </p:spPr>
      </p:sp>
      <p:sp>
        <p:nvSpPr>
          <p:cNvPr id="5" name="Text 2"/>
          <p:cNvSpPr/>
          <p:nvPr/>
        </p:nvSpPr>
        <p:spPr>
          <a:xfrm>
            <a:off x="758666" y="2559368"/>
            <a:ext cx="2709863" cy="338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Rankings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758666" y="3028117"/>
            <a:ext cx="6448187" cy="693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Identified top and least profitable products for strategic adjustments</a:t>
            </a:r>
            <a:endParaRPr lang="en-US" sz="17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23547" y="2079188"/>
            <a:ext cx="216694" cy="21669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423547" y="2390061"/>
            <a:ext cx="6448187" cy="30480"/>
          </a:xfrm>
          <a:prstGeom prst="rect">
            <a:avLst/>
          </a:prstGeom>
          <a:solidFill>
            <a:srgbClr val="FF7047"/>
          </a:solidFill>
          <a:ln/>
        </p:spPr>
      </p:sp>
      <p:sp>
        <p:nvSpPr>
          <p:cNvPr id="9" name="Text 5"/>
          <p:cNvSpPr/>
          <p:nvPr/>
        </p:nvSpPr>
        <p:spPr>
          <a:xfrm>
            <a:off x="7423547" y="2559368"/>
            <a:ext cx="2709863" cy="338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Segments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7423547" y="3028117"/>
            <a:ext cx="6448187" cy="693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Examined Consumer, Corporate, and Home Office performance patterns</a:t>
            </a:r>
            <a:endParaRPr lang="en-US" sz="17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8666" y="4128135"/>
            <a:ext cx="216694" cy="216694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58666" y="4439007"/>
            <a:ext cx="6448187" cy="30480"/>
          </a:xfrm>
          <a:prstGeom prst="rect">
            <a:avLst/>
          </a:prstGeom>
          <a:solidFill>
            <a:srgbClr val="FF7047"/>
          </a:solidFill>
          <a:ln/>
        </p:spPr>
      </p:sp>
      <p:sp>
        <p:nvSpPr>
          <p:cNvPr id="13" name="Text 8"/>
          <p:cNvSpPr/>
          <p:nvPr/>
        </p:nvSpPr>
        <p:spPr>
          <a:xfrm>
            <a:off x="758666" y="4608314"/>
            <a:ext cx="2709863" cy="338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Shipping Efficiency</a:t>
            </a:r>
            <a:endParaRPr lang="en-US" sz="2100" dirty="0"/>
          </a:p>
        </p:txBody>
      </p:sp>
      <p:sp>
        <p:nvSpPr>
          <p:cNvPr id="14" name="Text 9"/>
          <p:cNvSpPr/>
          <p:nvPr/>
        </p:nvSpPr>
        <p:spPr>
          <a:xfrm>
            <a:off x="758666" y="5077063"/>
            <a:ext cx="6448187" cy="346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Evaluated shipping mode performance (average days vs profit)</a:t>
            </a:r>
            <a:endParaRPr lang="en-US" sz="17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23547" y="4128135"/>
            <a:ext cx="216694" cy="216694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7423547" y="4439007"/>
            <a:ext cx="6448187" cy="30480"/>
          </a:xfrm>
          <a:prstGeom prst="rect">
            <a:avLst/>
          </a:prstGeom>
          <a:solidFill>
            <a:srgbClr val="FF7047"/>
          </a:solidFill>
          <a:ln/>
        </p:spPr>
      </p:sp>
      <p:sp>
        <p:nvSpPr>
          <p:cNvPr id="17" name="Text 11"/>
          <p:cNvSpPr/>
          <p:nvPr/>
        </p:nvSpPr>
        <p:spPr>
          <a:xfrm>
            <a:off x="7423547" y="4608314"/>
            <a:ext cx="2709863" cy="338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Discount Impact</a:t>
            </a:r>
            <a:endParaRPr lang="en-US" sz="2100" dirty="0"/>
          </a:p>
        </p:txBody>
      </p:sp>
      <p:sp>
        <p:nvSpPr>
          <p:cNvPr id="18" name="Text 12"/>
          <p:cNvSpPr/>
          <p:nvPr/>
        </p:nvSpPr>
        <p:spPr>
          <a:xfrm>
            <a:off x="7423547" y="5077063"/>
            <a:ext cx="6448187" cy="346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Correlated discount levels with profitability outcomes</a:t>
            </a:r>
            <a:endParaRPr lang="en-US" sz="17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8666" y="5830253"/>
            <a:ext cx="216694" cy="216694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758666" y="6141125"/>
            <a:ext cx="6448187" cy="30480"/>
          </a:xfrm>
          <a:prstGeom prst="rect">
            <a:avLst/>
          </a:prstGeom>
          <a:solidFill>
            <a:srgbClr val="FF7047"/>
          </a:solidFill>
          <a:ln/>
        </p:spPr>
      </p:sp>
      <p:sp>
        <p:nvSpPr>
          <p:cNvPr id="21" name="Text 14"/>
          <p:cNvSpPr/>
          <p:nvPr/>
        </p:nvSpPr>
        <p:spPr>
          <a:xfrm>
            <a:off x="758666" y="6310432"/>
            <a:ext cx="2709863" cy="338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 Value Analysis</a:t>
            </a:r>
            <a:endParaRPr lang="en-US" sz="2100" dirty="0"/>
          </a:p>
        </p:txBody>
      </p:sp>
      <p:sp>
        <p:nvSpPr>
          <p:cNvPr id="22" name="Text 15"/>
          <p:cNvSpPr/>
          <p:nvPr/>
        </p:nvSpPr>
        <p:spPr>
          <a:xfrm>
            <a:off x="758666" y="6779181"/>
            <a:ext cx="6448187" cy="346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Calculated Average Order Value by customer segment</a:t>
            </a:r>
            <a:endParaRPr lang="en-US" sz="17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423547" y="5830253"/>
            <a:ext cx="216694" cy="21669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423547" y="6141125"/>
            <a:ext cx="6448187" cy="30480"/>
          </a:xfrm>
          <a:prstGeom prst="rect">
            <a:avLst/>
          </a:prstGeom>
          <a:solidFill>
            <a:srgbClr val="FF7047"/>
          </a:solidFill>
          <a:ln/>
        </p:spPr>
      </p:sp>
      <p:sp>
        <p:nvSpPr>
          <p:cNvPr id="25" name="Text 17"/>
          <p:cNvSpPr/>
          <p:nvPr/>
        </p:nvSpPr>
        <p:spPr>
          <a:xfrm>
            <a:off x="7423547" y="6310432"/>
            <a:ext cx="2709863" cy="338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1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RFM Summary</a:t>
            </a:r>
            <a:endParaRPr lang="en-US" sz="2100" dirty="0"/>
          </a:p>
        </p:txBody>
      </p:sp>
      <p:sp>
        <p:nvSpPr>
          <p:cNvPr id="26" name="Text 18"/>
          <p:cNvSpPr/>
          <p:nvPr/>
        </p:nvSpPr>
        <p:spPr>
          <a:xfrm>
            <a:off x="7423547" y="6779181"/>
            <a:ext cx="6448187" cy="346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Created Recency, Frequency, Monetary value customer analysis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329" y="808434"/>
            <a:ext cx="3663196" cy="2064425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091" y="808434"/>
            <a:ext cx="4050030" cy="2281952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852" y="808434"/>
            <a:ext cx="4050030" cy="2283976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730329" y="3639979"/>
            <a:ext cx="6402586" cy="65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41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BI Dashboard Suite</a:t>
            </a:r>
            <a:endParaRPr lang="en-US" sz="4100" dirty="0"/>
          </a:p>
        </p:txBody>
      </p:sp>
      <p:sp>
        <p:nvSpPr>
          <p:cNvPr id="6" name="Text 1"/>
          <p:cNvSpPr/>
          <p:nvPr/>
        </p:nvSpPr>
        <p:spPr>
          <a:xfrm>
            <a:off x="730329" y="4604861"/>
            <a:ext cx="13169741" cy="3338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Three interactive dashboards provide comprehensive visual insights for business decision-making:</a:t>
            </a:r>
            <a:endParaRPr lang="en-US" sz="1600" dirty="0"/>
          </a:p>
        </p:txBody>
      </p:sp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329" y="5173385"/>
            <a:ext cx="4389834" cy="834628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938927" y="6216610"/>
            <a:ext cx="2608302" cy="3259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0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Overview</a:t>
            </a:r>
            <a:endParaRPr lang="en-US" sz="2050" dirty="0"/>
          </a:p>
        </p:txBody>
      </p:sp>
      <p:sp>
        <p:nvSpPr>
          <p:cNvPr id="9" name="Text 3"/>
          <p:cNvSpPr/>
          <p:nvPr/>
        </p:nvSpPr>
        <p:spPr>
          <a:xfrm>
            <a:off x="938927" y="6667738"/>
            <a:ext cx="3972639" cy="667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KPIs, monthly trends, category profit, regional map, and top states</a:t>
            </a:r>
            <a:endParaRPr lang="en-US" sz="1600" dirty="0"/>
          </a:p>
        </p:txBody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164" y="5173385"/>
            <a:ext cx="4389953" cy="834628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5328761" y="6216610"/>
            <a:ext cx="2608302" cy="3259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0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 Insights</a:t>
            </a:r>
            <a:endParaRPr lang="en-US" sz="2050" dirty="0"/>
          </a:p>
        </p:txBody>
      </p:sp>
      <p:sp>
        <p:nvSpPr>
          <p:cNvPr id="12" name="Text 5"/>
          <p:cNvSpPr/>
          <p:nvPr/>
        </p:nvSpPr>
        <p:spPr>
          <a:xfrm>
            <a:off x="5328761" y="6667738"/>
            <a:ext cx="3972758" cy="1001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Scatter plots, profitability matrix, customer contribution, and trend analysis</a:t>
            </a:r>
            <a:endParaRPr lang="en-US" sz="160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10117" y="5173385"/>
            <a:ext cx="4389953" cy="834628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9718715" y="6216610"/>
            <a:ext cx="2608302" cy="3259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0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Operations</a:t>
            </a:r>
            <a:endParaRPr lang="en-US" sz="2050" dirty="0"/>
          </a:p>
        </p:txBody>
      </p:sp>
      <p:sp>
        <p:nvSpPr>
          <p:cNvPr id="15" name="Text 7"/>
          <p:cNvSpPr/>
          <p:nvPr/>
        </p:nvSpPr>
        <p:spPr>
          <a:xfrm>
            <a:off x="9718715" y="6667738"/>
            <a:ext cx="3972758" cy="667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Shipping analysis, profit by mode, discount impact, and margin matrix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61981"/>
            <a:ext cx="587275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0"/>
              </a:lnSpc>
              <a:buNone/>
            </a:pPr>
            <a:r>
              <a:rPr lang="en-US" sz="44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Results &amp; Insights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837736"/>
            <a:ext cx="3048000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850"/>
              </a:lnSpc>
              <a:buNone/>
            </a:pPr>
            <a:r>
              <a:rPr lang="en-US" sz="58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$2.3M</a:t>
            </a:r>
            <a:endParaRPr lang="en-US" sz="5850" dirty="0"/>
          </a:p>
        </p:txBody>
      </p:sp>
      <p:sp>
        <p:nvSpPr>
          <p:cNvPr id="4" name="Text 2"/>
          <p:cNvSpPr/>
          <p:nvPr/>
        </p:nvSpPr>
        <p:spPr>
          <a:xfrm>
            <a:off x="900113" y="386953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Sales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3790" y="4359950"/>
            <a:ext cx="304800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Revenue generated across all categories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4125278" y="2837736"/>
            <a:ext cx="3048119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850"/>
              </a:lnSpc>
              <a:buNone/>
            </a:pPr>
            <a:r>
              <a:rPr lang="en-US" sz="58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$286K</a:t>
            </a:r>
            <a:endParaRPr lang="en-US" sz="5850" dirty="0"/>
          </a:p>
        </p:txBody>
      </p:sp>
      <p:sp>
        <p:nvSpPr>
          <p:cNvPr id="7" name="Text 5"/>
          <p:cNvSpPr/>
          <p:nvPr/>
        </p:nvSpPr>
        <p:spPr>
          <a:xfrm>
            <a:off x="4231719" y="386953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Profit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125278" y="4359950"/>
            <a:ext cx="30481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Net profitability achieved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456884" y="2837736"/>
            <a:ext cx="3048119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850"/>
              </a:lnSpc>
              <a:buNone/>
            </a:pPr>
            <a:r>
              <a:rPr lang="en-US" sz="58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12.47%</a:t>
            </a:r>
            <a:endParaRPr lang="en-US" sz="5850" dirty="0"/>
          </a:p>
        </p:txBody>
      </p:sp>
      <p:sp>
        <p:nvSpPr>
          <p:cNvPr id="10" name="Text 8"/>
          <p:cNvSpPr/>
          <p:nvPr/>
        </p:nvSpPr>
        <p:spPr>
          <a:xfrm>
            <a:off x="7563326" y="386953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 Margin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456884" y="4359950"/>
            <a:ext cx="30481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Overall margin percentage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10788491" y="2837736"/>
            <a:ext cx="3048119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850"/>
              </a:lnSpc>
              <a:buNone/>
            </a:pPr>
            <a:r>
              <a:rPr lang="en-US" sz="58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3.96</a:t>
            </a:r>
            <a:endParaRPr lang="en-US" sz="5850" dirty="0"/>
          </a:p>
        </p:txBody>
      </p:sp>
      <p:sp>
        <p:nvSpPr>
          <p:cNvPr id="13" name="Text 11"/>
          <p:cNvSpPr/>
          <p:nvPr/>
        </p:nvSpPr>
        <p:spPr>
          <a:xfrm>
            <a:off x="10894933" y="386953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Avg Ship Days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788491" y="4359950"/>
            <a:ext cx="30481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Average delivery time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793790" y="5340906"/>
            <a:ext cx="13042821" cy="1326713"/>
          </a:xfrm>
          <a:prstGeom prst="roundRect">
            <a:avLst>
              <a:gd name="adj" fmla="val 15387"/>
            </a:avLst>
          </a:prstGeom>
          <a:solidFill>
            <a:srgbClr val="FFC4B3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604" y="5692616"/>
            <a:ext cx="283488" cy="226814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530906" y="5624393"/>
            <a:ext cx="1207889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Critical Finding:</a:t>
            </a:r>
            <a:pPr algn="l" indent="0" marL="0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High discount levels strongly correlate with low profit. Technology leads profitability while Furniture lags. West region and California state dominate performance.</a:t>
            </a:r>
            <a:endParaRPr lang="en-US" sz="1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020" y="910828"/>
            <a:ext cx="6964561" cy="6554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150"/>
              </a:lnSpc>
              <a:buNone/>
            </a:pPr>
            <a:r>
              <a:rPr lang="en-US" sz="41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Strategic Recommendations</a:t>
            </a:r>
            <a:endParaRPr lang="en-US" sz="4100" dirty="0"/>
          </a:p>
        </p:txBody>
      </p:sp>
      <p:sp>
        <p:nvSpPr>
          <p:cNvPr id="3" name="Shape 1"/>
          <p:cNvSpPr/>
          <p:nvPr/>
        </p:nvSpPr>
        <p:spPr>
          <a:xfrm>
            <a:off x="734020" y="1985724"/>
            <a:ext cx="6476286" cy="1559243"/>
          </a:xfrm>
          <a:prstGeom prst="roundRect">
            <a:avLst>
              <a:gd name="adj" fmla="val 12106"/>
            </a:avLst>
          </a:prstGeom>
          <a:solidFill>
            <a:srgbClr val="FFFFFF"/>
          </a:solidFill>
          <a:ln w="7620">
            <a:solidFill>
              <a:srgbClr val="FF704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51309" y="2203013"/>
            <a:ext cx="2621637" cy="327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0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Optimize Furniture</a:t>
            </a:r>
            <a:endParaRPr lang="en-US" sz="2050" dirty="0"/>
          </a:p>
        </p:txBody>
      </p:sp>
      <p:sp>
        <p:nvSpPr>
          <p:cNvPr id="5" name="Text 3"/>
          <p:cNvSpPr/>
          <p:nvPr/>
        </p:nvSpPr>
        <p:spPr>
          <a:xfrm>
            <a:off x="951309" y="2656403"/>
            <a:ext cx="6041707" cy="671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Reduce logistics costs and review discount structure to improve margins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419975" y="1985724"/>
            <a:ext cx="6476405" cy="1559243"/>
          </a:xfrm>
          <a:prstGeom prst="roundRect">
            <a:avLst>
              <a:gd name="adj" fmla="val 12106"/>
            </a:avLst>
          </a:prstGeom>
          <a:solidFill>
            <a:srgbClr val="FFFFFF"/>
          </a:solidFill>
          <a:ln w="7620">
            <a:solidFill>
              <a:srgbClr val="FFA6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37264" y="2203013"/>
            <a:ext cx="2650569" cy="327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0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Technology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7637264" y="2656403"/>
            <a:ext cx="6041827" cy="671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Invest marketing in high-profitability category with proven returns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34020" y="3754636"/>
            <a:ext cx="6476286" cy="1223605"/>
          </a:xfrm>
          <a:prstGeom prst="roundRect">
            <a:avLst>
              <a:gd name="adj" fmla="val 15427"/>
            </a:avLst>
          </a:prstGeom>
          <a:solidFill>
            <a:srgbClr val="FFFFFF"/>
          </a:solidFill>
          <a:ln w="7620">
            <a:solidFill>
              <a:srgbClr val="FFCE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1309" y="3971925"/>
            <a:ext cx="3293269" cy="327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0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Corporate Segment</a:t>
            </a:r>
            <a:endParaRPr lang="en-US" sz="2050" dirty="0"/>
          </a:p>
        </p:txBody>
      </p:sp>
      <p:sp>
        <p:nvSpPr>
          <p:cNvPr id="11" name="Text 9"/>
          <p:cNvSpPr/>
          <p:nvPr/>
        </p:nvSpPr>
        <p:spPr>
          <a:xfrm>
            <a:off x="951309" y="4425315"/>
            <a:ext cx="6041707" cy="335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Prioritize highest margin customers with superior order value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419975" y="3754636"/>
            <a:ext cx="6476405" cy="1223605"/>
          </a:xfrm>
          <a:prstGeom prst="roundRect">
            <a:avLst>
              <a:gd name="adj" fmla="val 15427"/>
            </a:avLst>
          </a:prstGeom>
          <a:solidFill>
            <a:srgbClr val="FFFFFF"/>
          </a:solidFill>
          <a:ln w="7620">
            <a:solidFill>
              <a:srgbClr val="FF9B7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37264" y="3971925"/>
            <a:ext cx="2621637" cy="327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0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Promote Winners</a:t>
            </a:r>
            <a:endParaRPr lang="en-US" sz="2050" dirty="0"/>
          </a:p>
        </p:txBody>
      </p:sp>
      <p:sp>
        <p:nvSpPr>
          <p:cNvPr id="14" name="Text 12"/>
          <p:cNvSpPr/>
          <p:nvPr/>
        </p:nvSpPr>
        <p:spPr>
          <a:xfrm>
            <a:off x="7637264" y="4425315"/>
            <a:ext cx="6041827" cy="335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Push high-margin products: Phones, Copiers, and Accessories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34020" y="5187910"/>
            <a:ext cx="6476286" cy="1223605"/>
          </a:xfrm>
          <a:prstGeom prst="roundRect">
            <a:avLst>
              <a:gd name="adj" fmla="val 15427"/>
            </a:avLst>
          </a:prstGeom>
          <a:solidFill>
            <a:srgbClr val="FFFFFF"/>
          </a:solidFill>
          <a:ln w="7620">
            <a:solidFill>
              <a:srgbClr val="FFF0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309" y="5405199"/>
            <a:ext cx="2621637" cy="327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0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Enhance Delivery</a:t>
            </a:r>
            <a:endParaRPr lang="en-US" sz="2050" dirty="0"/>
          </a:p>
        </p:txBody>
      </p:sp>
      <p:sp>
        <p:nvSpPr>
          <p:cNvPr id="17" name="Text 15"/>
          <p:cNvSpPr/>
          <p:nvPr/>
        </p:nvSpPr>
        <p:spPr>
          <a:xfrm>
            <a:off x="951309" y="5858589"/>
            <a:ext cx="6041707" cy="335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Expand 2-day shipping options to boost customer satisfaction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7419975" y="5187910"/>
            <a:ext cx="6476405" cy="1223605"/>
          </a:xfrm>
          <a:prstGeom prst="roundRect">
            <a:avLst>
              <a:gd name="adj" fmla="val 15427"/>
            </a:avLst>
          </a:prstGeom>
          <a:solidFill>
            <a:srgbClr val="FFFFFF"/>
          </a:solidFill>
          <a:ln w="7620">
            <a:solidFill>
              <a:srgbClr val="FF70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37264" y="5405199"/>
            <a:ext cx="2621637" cy="327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0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Seasonally</a:t>
            </a:r>
            <a:endParaRPr lang="en-US" sz="2050" dirty="0"/>
          </a:p>
        </p:txBody>
      </p:sp>
      <p:sp>
        <p:nvSpPr>
          <p:cNvPr id="20" name="Text 18"/>
          <p:cNvSpPr/>
          <p:nvPr/>
        </p:nvSpPr>
        <p:spPr>
          <a:xfrm>
            <a:off x="7637264" y="5858589"/>
            <a:ext cx="6041827" cy="335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Prepare inventory for Q4 holiday demand surge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34020" y="6647378"/>
            <a:ext cx="13162359" cy="671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This complete data analytics lifecycle—from Python cleaning to SQL intelligence to Power BI visualization—delivers actionable insights for data-driven business decisions.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2025-11-12T06:47:18Z</dcterms:created>
  <dcterms:modified xsi:type="dcterms:W3CDTF">2025-11-12T06:47:18Z</dcterms:modified>
</cp:coreProperties>
</file>