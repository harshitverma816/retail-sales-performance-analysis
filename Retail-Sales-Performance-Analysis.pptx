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Inter" panose="020B0604020202020204" charset="0"/>
      <p:regular r:id="rId15"/>
    </p:embeddedFont>
    <p:embeddedFont>
      <p:font typeface="Manrop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053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Sales Performance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6"/>
            <a:ext cx="7556421" cy="274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Analyzing retail sales performance using Python, SQL, and Power BI to uncover key insights across profitability, customer behavior, and operational efficiency from 2014-2017 Superstore data.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55575A"/>
              </a:solidFill>
              <a:latin typeface="Manrope" pitchFamily="34" charset="0"/>
            </a:endParaRPr>
          </a:p>
          <a:p>
            <a:pPr algn="r">
              <a:lnSpc>
                <a:spcPts val="2850"/>
              </a:lnSpc>
            </a:pPr>
            <a:endParaRPr lang="en-US" sz="1750" dirty="0">
              <a:solidFill>
                <a:srgbClr val="55575A"/>
              </a:solidFill>
              <a:latin typeface="Manrope" pitchFamily="34" charset="0"/>
            </a:endParaRPr>
          </a:p>
          <a:p>
            <a:pPr algn="r">
              <a:lnSpc>
                <a:spcPts val="2850"/>
              </a:lnSpc>
            </a:pPr>
            <a:r>
              <a:rPr lang="en-US" sz="2800" dirty="0">
                <a:latin typeface="Manrope" pitchFamily="34" charset="0"/>
              </a:rPr>
              <a:t>Created by – </a:t>
            </a:r>
          </a:p>
          <a:p>
            <a:pPr algn="r">
              <a:lnSpc>
                <a:spcPts val="2850"/>
              </a:lnSpc>
            </a:pPr>
            <a:r>
              <a:rPr lang="en-US" sz="2800" dirty="0">
                <a:latin typeface="Manrope" pitchFamily="34" charset="0"/>
              </a:rPr>
              <a:t>Harshit Verma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&amp; Profitability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 performance across categories, regions, and customer segments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63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Performance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top and underperforming products and states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Impact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 discount and shipping mode effects on profit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Insights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Power BI dashboards for data-driven decision-making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74031"/>
            <a:ext cx="68655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49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5309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Data cleaning, transformation, and EDA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9731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MySQL (XAMPP)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Deep analytical queries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153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BI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Dashboard creation and KPI tracking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8575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Data validation and preliminary analysis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949785"/>
            <a:ext cx="30006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Specifications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55309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10,000 rows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across </a:t>
            </a: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 columns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609790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Includes order details, customer segments, product categories, sales, profit, discount, quantity, and shipping information spanning 2014-2017.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891" y="810220"/>
            <a:ext cx="7319605" cy="58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Analysis: Key Discoveries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3891" y="2047756"/>
            <a:ext cx="6567845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53891" y="2024896"/>
            <a:ext cx="6567845" cy="91440"/>
          </a:xfrm>
          <a:prstGeom prst="roundRect">
            <a:avLst>
              <a:gd name="adj" fmla="val 183902"/>
            </a:avLst>
          </a:prstGeom>
          <a:solidFill>
            <a:srgbClr val="FF704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767602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FF7047"/>
          </a:solidFill>
          <a:ln/>
        </p:spPr>
      </p:sp>
      <p:sp>
        <p:nvSpPr>
          <p:cNvPr id="6" name="Text 4"/>
          <p:cNvSpPr/>
          <p:nvPr/>
        </p:nvSpPr>
        <p:spPr>
          <a:xfrm>
            <a:off x="3825657" y="1907738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63560" y="2514838"/>
            <a:ext cx="258318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Sales-Profit Correlation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560" y="2918817"/>
            <a:ext cx="6148507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Moderate positive correlation, but high Furniture sales lead to losses due to shipping and discounts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8545" y="2047756"/>
            <a:ext cx="6567964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08545" y="2024896"/>
            <a:ext cx="6567964" cy="91440"/>
          </a:xfrm>
          <a:prstGeom prst="roundRect">
            <a:avLst>
              <a:gd name="adj" fmla="val 183902"/>
            </a:avLst>
          </a:prstGeom>
          <a:solidFill>
            <a:srgbClr val="FF7047"/>
          </a:solidFill>
          <a:ln/>
        </p:spPr>
      </p:sp>
      <p:sp>
        <p:nvSpPr>
          <p:cNvPr id="11" name="Shape 9"/>
          <p:cNvSpPr/>
          <p:nvPr/>
        </p:nvSpPr>
        <p:spPr>
          <a:xfrm>
            <a:off x="10412313" y="1767602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FF704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80430" y="1907738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8214" y="2514838"/>
            <a:ext cx="244375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Performance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18214" y="2918817"/>
            <a:ext cx="6148626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West region most profitable; South underperforming significantly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3891" y="4193143"/>
            <a:ext cx="6567845" cy="1379577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891" y="4170283"/>
            <a:ext cx="6567845" cy="91440"/>
          </a:xfrm>
          <a:prstGeom prst="roundRect">
            <a:avLst>
              <a:gd name="adj" fmla="val 183902"/>
            </a:avLst>
          </a:prstGeom>
          <a:solidFill>
            <a:srgbClr val="FF7047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3912989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FF7047"/>
          </a:solidFill>
          <a:ln/>
        </p:spPr>
      </p:sp>
      <p:sp>
        <p:nvSpPr>
          <p:cNvPr id="18" name="Text 16"/>
          <p:cNvSpPr/>
          <p:nvPr/>
        </p:nvSpPr>
        <p:spPr>
          <a:xfrm>
            <a:off x="3825657" y="4053126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63560" y="4660225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Sales States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3560" y="5064204"/>
            <a:ext cx="6148507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California, New York, and Texas dominate sales volume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8545" y="4193143"/>
            <a:ext cx="6567964" cy="1379577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8545" y="4170283"/>
            <a:ext cx="6567964" cy="91440"/>
          </a:xfrm>
          <a:prstGeom prst="roundRect">
            <a:avLst>
              <a:gd name="adj" fmla="val 183902"/>
            </a:avLst>
          </a:prstGeom>
          <a:solidFill>
            <a:srgbClr val="FF704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12313" y="3912989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FF7047"/>
          </a:solidFill>
          <a:ln/>
        </p:spPr>
      </p:sp>
      <p:sp>
        <p:nvSpPr>
          <p:cNvPr id="24" name="Text 22"/>
          <p:cNvSpPr/>
          <p:nvPr/>
        </p:nvSpPr>
        <p:spPr>
          <a:xfrm>
            <a:off x="10580430" y="4053126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18214" y="4660225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Trends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8214" y="5064204"/>
            <a:ext cx="6148626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peak October-December, reflecting holiday shopping patterns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3891" y="6039683"/>
            <a:ext cx="6567845" cy="1379577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891" y="6016823"/>
            <a:ext cx="6567845" cy="91440"/>
          </a:xfrm>
          <a:prstGeom prst="roundRect">
            <a:avLst>
              <a:gd name="adj" fmla="val 183902"/>
            </a:avLst>
          </a:prstGeom>
          <a:solidFill>
            <a:srgbClr val="FF7047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540" y="5759529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FF7047"/>
          </a:solidFill>
          <a:ln/>
        </p:spPr>
      </p:sp>
      <p:sp>
        <p:nvSpPr>
          <p:cNvPr id="30" name="Text 28"/>
          <p:cNvSpPr/>
          <p:nvPr/>
        </p:nvSpPr>
        <p:spPr>
          <a:xfrm>
            <a:off x="3825657" y="5899666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863560" y="6506766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Leaders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3560" y="6910745"/>
            <a:ext cx="6148507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Corporate customers drive most profit; Home Office performs least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08545" y="6039683"/>
            <a:ext cx="6567964" cy="1379577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8545" y="6016823"/>
            <a:ext cx="6567964" cy="91440"/>
          </a:xfrm>
          <a:prstGeom prst="roundRect">
            <a:avLst>
              <a:gd name="adj" fmla="val 183902"/>
            </a:avLst>
          </a:prstGeom>
          <a:solidFill>
            <a:srgbClr val="FF704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2313" y="5759529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FF7047"/>
          </a:solidFill>
          <a:ln/>
        </p:spPr>
      </p:sp>
      <p:sp>
        <p:nvSpPr>
          <p:cNvPr id="36" name="Text 34"/>
          <p:cNvSpPr/>
          <p:nvPr/>
        </p:nvSpPr>
        <p:spPr>
          <a:xfrm>
            <a:off x="10580430" y="5899666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618214" y="6506766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Winners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18214" y="6910745"/>
            <a:ext cx="6148626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Technology most profitable; Furniture often incurs losses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057" y="357545"/>
            <a:ext cx="4957286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Performance Deep Dive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5057" y="1088827"/>
            <a:ext cx="16253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 Performers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5057" y="1429583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High-Profit Sub-Categories: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5057" y="1754505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5057" y="2007989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5057" y="2261473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Copiers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57" y="2615684"/>
            <a:ext cx="6701552" cy="6701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81411" y="1088827"/>
            <a:ext cx="16253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Loss Makers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81411" y="1429583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A6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Underperforming Sub-Categories: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81411" y="1754505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81411" y="2007989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Bookcases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81411" y="2261473"/>
            <a:ext cx="670155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Supplies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411" y="2615684"/>
            <a:ext cx="6701552" cy="67015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57" y="9609653"/>
            <a:ext cx="13720286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Shipping efficiency remains strong with most orders delivered in 3-5 days, reflecting robust logistics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0779"/>
            <a:ext cx="6354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66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57092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Calculated total sales, profit, and quantity for comprehensive performance tracking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3866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4357092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sales and profit patterns identified for strategic planning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3866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Breakdown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4357092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and profit computed by category and sub-category for comparison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3866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Insights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4357092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Region and state performance measured to highlight strong and weak areas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941070"/>
            <a:ext cx="6313646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 Analytics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666" y="2079188"/>
            <a:ext cx="216694" cy="21669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666" y="2390061"/>
            <a:ext cx="6448187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5" name="Text 2"/>
          <p:cNvSpPr/>
          <p:nvPr/>
        </p:nvSpPr>
        <p:spPr>
          <a:xfrm>
            <a:off x="758666" y="2559368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Rankings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8666" y="3028117"/>
            <a:ext cx="644818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top and least profitable products for strategic adjustments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3547" y="2079188"/>
            <a:ext cx="216694" cy="21669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23547" y="2390061"/>
            <a:ext cx="6448187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9" name="Text 5"/>
          <p:cNvSpPr/>
          <p:nvPr/>
        </p:nvSpPr>
        <p:spPr>
          <a:xfrm>
            <a:off x="7423547" y="2559368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423547" y="3028117"/>
            <a:ext cx="644818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Examined Consumer, Corporate, and Home Office performance patterns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666" y="4128135"/>
            <a:ext cx="216694" cy="21669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58666" y="4439007"/>
            <a:ext cx="6448187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3" name="Text 8"/>
          <p:cNvSpPr/>
          <p:nvPr/>
        </p:nvSpPr>
        <p:spPr>
          <a:xfrm>
            <a:off x="758666" y="4608314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Efficiency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58666" y="5077063"/>
            <a:ext cx="6448187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Evaluated shipping mode performance (average days vs profit)</a:t>
            </a:r>
            <a:endParaRPr lang="en-US" sz="1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3547" y="4128135"/>
            <a:ext cx="216694" cy="21669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23547" y="4439007"/>
            <a:ext cx="6448187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7" name="Text 11"/>
          <p:cNvSpPr/>
          <p:nvPr/>
        </p:nvSpPr>
        <p:spPr>
          <a:xfrm>
            <a:off x="7423547" y="4608314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Impact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7423547" y="5077063"/>
            <a:ext cx="6448187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Correlated discount levels with profitability outcomes</a:t>
            </a:r>
            <a:endParaRPr lang="en-US" sz="1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666" y="5830253"/>
            <a:ext cx="216694" cy="21669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58666" y="6141125"/>
            <a:ext cx="6448187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1" name="Text 14"/>
          <p:cNvSpPr/>
          <p:nvPr/>
        </p:nvSpPr>
        <p:spPr>
          <a:xfrm>
            <a:off x="758666" y="6310432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Value Analysis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758666" y="6779181"/>
            <a:ext cx="6448187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Calculated Average Order Value by customer segment</a:t>
            </a:r>
            <a:endParaRPr lang="en-US" sz="17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23547" y="5830253"/>
            <a:ext cx="216694" cy="21669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423547" y="6141125"/>
            <a:ext cx="6448187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5" name="Text 17"/>
          <p:cNvSpPr/>
          <p:nvPr/>
        </p:nvSpPr>
        <p:spPr>
          <a:xfrm>
            <a:off x="7423547" y="6310432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RFM Summary</a:t>
            </a:r>
            <a:endParaRPr lang="en-US" sz="2100" dirty="0"/>
          </a:p>
        </p:txBody>
      </p:sp>
      <p:sp>
        <p:nvSpPr>
          <p:cNvPr id="26" name="Text 18"/>
          <p:cNvSpPr/>
          <p:nvPr/>
        </p:nvSpPr>
        <p:spPr>
          <a:xfrm>
            <a:off x="7423547" y="6779181"/>
            <a:ext cx="6448187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Recency, Frequency, Monetary value customer analysis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29" y="808434"/>
            <a:ext cx="3663196" cy="20644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091" y="808434"/>
            <a:ext cx="4050030" cy="22819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3852" y="808434"/>
            <a:ext cx="4050030" cy="22839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0329" y="3639979"/>
            <a:ext cx="6402586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 Suite</a:t>
            </a:r>
            <a:endParaRPr lang="en-US" sz="4100" dirty="0"/>
          </a:p>
        </p:txBody>
      </p:sp>
      <p:sp>
        <p:nvSpPr>
          <p:cNvPr id="6" name="Text 1"/>
          <p:cNvSpPr/>
          <p:nvPr/>
        </p:nvSpPr>
        <p:spPr>
          <a:xfrm>
            <a:off x="730329" y="4604861"/>
            <a:ext cx="13169741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interactive dashboards provide comprehensive visual insights for business decision-making:</a:t>
            </a:r>
            <a:endParaRPr lang="en-US" sz="16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29" y="5173385"/>
            <a:ext cx="4389834" cy="83462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8927" y="6216610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Overview</a:t>
            </a:r>
            <a:endParaRPr lang="en-US" sz="2050" dirty="0"/>
          </a:p>
        </p:txBody>
      </p:sp>
      <p:sp>
        <p:nvSpPr>
          <p:cNvPr id="9" name="Text 3"/>
          <p:cNvSpPr/>
          <p:nvPr/>
        </p:nvSpPr>
        <p:spPr>
          <a:xfrm>
            <a:off x="938927" y="6667738"/>
            <a:ext cx="3972639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KPIs, monthly trends, category profit, regional map, and top states</a:t>
            </a:r>
            <a:endParaRPr lang="en-US" sz="1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164" y="5173385"/>
            <a:ext cx="4389953" cy="83462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328761" y="6216610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Insights</a:t>
            </a:r>
            <a:endParaRPr lang="en-US" sz="2050" dirty="0"/>
          </a:p>
        </p:txBody>
      </p:sp>
      <p:sp>
        <p:nvSpPr>
          <p:cNvPr id="12" name="Text 5"/>
          <p:cNvSpPr/>
          <p:nvPr/>
        </p:nvSpPr>
        <p:spPr>
          <a:xfrm>
            <a:off x="5328761" y="6667738"/>
            <a:ext cx="3972758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Scatter plots, profitability matrix, customer contribution, and trend analysis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0117" y="5173385"/>
            <a:ext cx="4389953" cy="83462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718715" y="6216610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2050" dirty="0"/>
          </a:p>
        </p:txBody>
      </p:sp>
      <p:sp>
        <p:nvSpPr>
          <p:cNvPr id="15" name="Text 7"/>
          <p:cNvSpPr/>
          <p:nvPr/>
        </p:nvSpPr>
        <p:spPr>
          <a:xfrm>
            <a:off x="9718715" y="6667738"/>
            <a:ext cx="3972758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Shipping analysis, profit by mode, discount impact, and margin matrix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981"/>
            <a:ext cx="58727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Results &amp;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7736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$2.3M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59950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generated across all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83773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$286K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Profit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359950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 profitability achieved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83773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12.47%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Margin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359950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Overall margin percentage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83773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3.96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Ship Days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359950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delivery time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340906"/>
            <a:ext cx="13042821" cy="1326713"/>
          </a:xfrm>
          <a:prstGeom prst="roundRect">
            <a:avLst>
              <a:gd name="adj" fmla="val 15387"/>
            </a:avLst>
          </a:prstGeom>
          <a:solidFill>
            <a:srgbClr val="FFC4B3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92616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624393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Critical Finding:</a:t>
            </a: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High discount levels strongly correlate with low profit. Technology leads profitability while Furniture lags. West region and California state dominate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020" y="910828"/>
            <a:ext cx="6964561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4020" y="1985724"/>
            <a:ext cx="6476286" cy="1559243"/>
          </a:xfrm>
          <a:prstGeom prst="roundRect">
            <a:avLst>
              <a:gd name="adj" fmla="val 121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1309" y="2203013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Furniture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51309" y="2656403"/>
            <a:ext cx="604170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logistics costs and review discount structure to improve margins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19975" y="1985724"/>
            <a:ext cx="6476405" cy="1559243"/>
          </a:xfrm>
          <a:prstGeom prst="roundRect">
            <a:avLst>
              <a:gd name="adj" fmla="val 12106"/>
            </a:avLst>
          </a:prstGeom>
          <a:solidFill>
            <a:srgbClr val="FFFFFF"/>
          </a:solidFill>
          <a:ln w="7620">
            <a:solidFill>
              <a:srgbClr val="FFA6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7264" y="2203013"/>
            <a:ext cx="265056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Technology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637264" y="2656403"/>
            <a:ext cx="6041827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 marketing in high-profitability category with proven returns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4020" y="3754636"/>
            <a:ext cx="6476286" cy="1223605"/>
          </a:xfrm>
          <a:prstGeom prst="roundRect">
            <a:avLst>
              <a:gd name="adj" fmla="val 15427"/>
            </a:avLst>
          </a:prstGeom>
          <a:solidFill>
            <a:srgbClr val="FFFFFF"/>
          </a:solidFill>
          <a:ln w="7620">
            <a:solidFill>
              <a:srgbClr val="FFC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1309" y="3971925"/>
            <a:ext cx="329326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Corporate Segment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951309" y="4425315"/>
            <a:ext cx="604170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Prioritize highest margin customers with superior order value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19975" y="3754636"/>
            <a:ext cx="6476405" cy="1223605"/>
          </a:xfrm>
          <a:prstGeom prst="roundRect">
            <a:avLst>
              <a:gd name="adj" fmla="val 15427"/>
            </a:avLst>
          </a:prstGeom>
          <a:solidFill>
            <a:srgbClr val="FFFFFF"/>
          </a:solidFill>
          <a:ln w="7620">
            <a:solidFill>
              <a:srgbClr val="FF9B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7264" y="3971925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Winners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637264" y="4425315"/>
            <a:ext cx="60418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Push high-margin products: Phones, Copiers, and Accessories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4020" y="5187910"/>
            <a:ext cx="6476286" cy="1223605"/>
          </a:xfrm>
          <a:prstGeom prst="roundRect">
            <a:avLst>
              <a:gd name="adj" fmla="val 15427"/>
            </a:avLst>
          </a:prstGeom>
          <a:solidFill>
            <a:srgbClr val="FFFFFF"/>
          </a:solidFill>
          <a:ln w="7620">
            <a:solidFill>
              <a:srgbClr val="FFF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309" y="5405199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Delivery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51309" y="5858589"/>
            <a:ext cx="604170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2-day shipping options to boost customer satisfaction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19975" y="5187910"/>
            <a:ext cx="6476405" cy="1223605"/>
          </a:xfrm>
          <a:prstGeom prst="roundRect">
            <a:avLst>
              <a:gd name="adj" fmla="val 1542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7264" y="5405199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Seasonally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7637264" y="5858589"/>
            <a:ext cx="60418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 inventory for Q4 holiday demand surge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34020" y="6647378"/>
            <a:ext cx="13162359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complete data analytics lifecycle—from Python cleaning to SQL intelligence to Power BI visualization—delivers actionable insights for data-driven business decisions.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">
            <a:extLst>
              <a:ext uri="{FF2B5EF4-FFF2-40B4-BE49-F238E27FC236}">
                <a16:creationId xmlns:a16="http://schemas.microsoft.com/office/drawing/2014/main" id="{AC58A1A3-F7CA-EC38-8831-45A3229F942D}"/>
              </a:ext>
            </a:extLst>
          </p:cNvPr>
          <p:cNvSpPr/>
          <p:nvPr/>
        </p:nvSpPr>
        <p:spPr>
          <a:xfrm>
            <a:off x="745603" y="2954077"/>
            <a:ext cx="13258800" cy="494039"/>
          </a:xfrm>
          <a:prstGeom prst="roundRect">
            <a:avLst>
              <a:gd name="adj" fmla="val 121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5D3CA-3055-9CE8-BF5F-BAF21A6C94BA}"/>
              </a:ext>
            </a:extLst>
          </p:cNvPr>
          <p:cNvSpPr txBox="1"/>
          <p:nvPr/>
        </p:nvSpPr>
        <p:spPr>
          <a:xfrm>
            <a:off x="640080" y="692820"/>
            <a:ext cx="7746274" cy="728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Recommendations</a:t>
            </a:r>
            <a:endParaRPr lang="en-US" sz="4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3530C-EA18-C22C-5AB7-B219276049E0}"/>
              </a:ext>
            </a:extLst>
          </p:cNvPr>
          <p:cNvSpPr txBox="1"/>
          <p:nvPr/>
        </p:nvSpPr>
        <p:spPr>
          <a:xfrm>
            <a:off x="640080" y="1408721"/>
            <a:ext cx="132588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actions I would tale If I were the Retail Manager.</a:t>
            </a:r>
            <a:endParaRPr lang="en-US" sz="18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E77592EE-EF37-9078-3B09-85A86E49441A}"/>
              </a:ext>
            </a:extLst>
          </p:cNvPr>
          <p:cNvSpPr/>
          <p:nvPr/>
        </p:nvSpPr>
        <p:spPr>
          <a:xfrm>
            <a:off x="758666" y="2747657"/>
            <a:ext cx="13258800" cy="45719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3A76C-5B7F-270F-69F9-133AACBEAAF8}"/>
              </a:ext>
            </a:extLst>
          </p:cNvPr>
          <p:cNvSpPr txBox="1"/>
          <p:nvPr/>
        </p:nvSpPr>
        <p:spPr>
          <a:xfrm>
            <a:off x="758666" y="2322080"/>
            <a:ext cx="2534194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9EBECE-26D3-3BBD-BE9D-D49890F3ED50}"/>
              </a:ext>
            </a:extLst>
          </p:cNvPr>
          <p:cNvSpPr txBox="1"/>
          <p:nvPr/>
        </p:nvSpPr>
        <p:spPr>
          <a:xfrm>
            <a:off x="5133702" y="2309017"/>
            <a:ext cx="1606731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9CDA0-0BBC-CF5F-D418-AA1FE720F225}"/>
              </a:ext>
            </a:extLst>
          </p:cNvPr>
          <p:cNvSpPr txBox="1"/>
          <p:nvPr/>
        </p:nvSpPr>
        <p:spPr>
          <a:xfrm>
            <a:off x="9653452" y="2309017"/>
            <a:ext cx="3213463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ction Recommendation</a:t>
            </a:r>
            <a:endParaRPr 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AD0E0A-BBC8-5252-D23F-71F42DA28A83}"/>
              </a:ext>
            </a:extLst>
          </p:cNvPr>
          <p:cNvSpPr txBox="1"/>
          <p:nvPr/>
        </p:nvSpPr>
        <p:spPr>
          <a:xfrm>
            <a:off x="732540" y="2980203"/>
            <a:ext cx="4074591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Furniture Profit very low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C9ADB-C1CA-CC76-9CF8-C3194A8F7A67}"/>
              </a:ext>
            </a:extLst>
          </p:cNvPr>
          <p:cNvSpPr txBox="1"/>
          <p:nvPr/>
        </p:nvSpPr>
        <p:spPr>
          <a:xfrm>
            <a:off x="4937760" y="2980203"/>
            <a:ext cx="1946365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18K profit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9F486-8822-5A46-DEA9-481E42D73FBA}"/>
              </a:ext>
            </a:extLst>
          </p:cNvPr>
          <p:cNvSpPr txBox="1"/>
          <p:nvPr/>
        </p:nvSpPr>
        <p:spPr>
          <a:xfrm>
            <a:off x="8582297" y="2980203"/>
            <a:ext cx="5409043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Discounting bundle with office supplies.</a:t>
            </a:r>
            <a:endParaRPr lang="en-US" sz="1800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A40A3B97-302D-E78B-0DAF-3CC1EFEC67BE}"/>
              </a:ext>
            </a:extLst>
          </p:cNvPr>
          <p:cNvSpPr/>
          <p:nvPr/>
        </p:nvSpPr>
        <p:spPr>
          <a:xfrm>
            <a:off x="745603" y="3694714"/>
            <a:ext cx="13258800" cy="494039"/>
          </a:xfrm>
          <a:prstGeom prst="roundRect">
            <a:avLst>
              <a:gd name="adj" fmla="val 121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206CC2-8852-AF8C-93E1-F790466D1C69}"/>
              </a:ext>
            </a:extLst>
          </p:cNvPr>
          <p:cNvSpPr txBox="1"/>
          <p:nvPr/>
        </p:nvSpPr>
        <p:spPr>
          <a:xfrm>
            <a:off x="745603" y="3764005"/>
            <a:ext cx="4074591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Day Shipping underperforms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513037-941E-D49E-4F15-B6A96D0258F1}"/>
              </a:ext>
            </a:extLst>
          </p:cNvPr>
          <p:cNvSpPr txBox="1"/>
          <p:nvPr/>
        </p:nvSpPr>
        <p:spPr>
          <a:xfrm>
            <a:off x="4950823" y="3737879"/>
            <a:ext cx="1946365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16K profit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09C2AD-B021-1991-AF3D-51B195DBA510}"/>
              </a:ext>
            </a:extLst>
          </p:cNvPr>
          <p:cNvSpPr txBox="1"/>
          <p:nvPr/>
        </p:nvSpPr>
        <p:spPr>
          <a:xfrm>
            <a:off x="8582297" y="3764005"/>
            <a:ext cx="5409043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Delivery fee for low-ticket orders.</a:t>
            </a:r>
            <a:endParaRPr lang="en-US" sz="180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EAC405E0-E746-FB8B-B480-F65B9640A4B1}"/>
              </a:ext>
            </a:extLst>
          </p:cNvPr>
          <p:cNvSpPr/>
          <p:nvPr/>
        </p:nvSpPr>
        <p:spPr>
          <a:xfrm>
            <a:off x="745603" y="4447996"/>
            <a:ext cx="13258800" cy="494039"/>
          </a:xfrm>
          <a:prstGeom prst="roundRect">
            <a:avLst>
              <a:gd name="adj" fmla="val 121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1599E5-B1C4-5E84-5BD2-73CBA2F8F724}"/>
              </a:ext>
            </a:extLst>
          </p:cNvPr>
          <p:cNvSpPr txBox="1"/>
          <p:nvPr/>
        </p:nvSpPr>
        <p:spPr>
          <a:xfrm>
            <a:off x="728184" y="4504240"/>
            <a:ext cx="4065884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sales in Feb/July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342AD0-3C55-803E-21DB-A37C20B5AF9E}"/>
              </a:ext>
            </a:extLst>
          </p:cNvPr>
          <p:cNvSpPr txBox="1"/>
          <p:nvPr/>
        </p:nvSpPr>
        <p:spPr>
          <a:xfrm>
            <a:off x="4933404" y="4478114"/>
            <a:ext cx="2342607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trend chart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FF1B96-2600-A295-A0C9-2C04F66D84E0}"/>
              </a:ext>
            </a:extLst>
          </p:cNvPr>
          <p:cNvSpPr txBox="1"/>
          <p:nvPr/>
        </p:nvSpPr>
        <p:spPr>
          <a:xfrm>
            <a:off x="8577941" y="4504240"/>
            <a:ext cx="5400336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promotions + optimize stock levels.</a:t>
            </a:r>
            <a:endParaRPr lang="en-US" sz="18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A58E7187-ED04-0E27-0CF4-71A55D2CA8A7}"/>
              </a:ext>
            </a:extLst>
          </p:cNvPr>
          <p:cNvSpPr/>
          <p:nvPr/>
        </p:nvSpPr>
        <p:spPr>
          <a:xfrm>
            <a:off x="745603" y="5201278"/>
            <a:ext cx="13258800" cy="494039"/>
          </a:xfrm>
          <a:prstGeom prst="roundRect">
            <a:avLst>
              <a:gd name="adj" fmla="val 121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338DC5-3822-A19F-2AD0-FD2276FB8D16}"/>
              </a:ext>
            </a:extLst>
          </p:cNvPr>
          <p:cNvSpPr txBox="1"/>
          <p:nvPr/>
        </p:nvSpPr>
        <p:spPr>
          <a:xfrm>
            <a:off x="723828" y="5257538"/>
            <a:ext cx="4044114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leakage in East/Central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9C3477-1B44-7EE2-DD10-DDD49FB3D8F4}"/>
              </a:ext>
            </a:extLst>
          </p:cNvPr>
          <p:cNvSpPr txBox="1"/>
          <p:nvPr/>
        </p:nvSpPr>
        <p:spPr>
          <a:xfrm>
            <a:off x="4929048" y="5231412"/>
            <a:ext cx="2342607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table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1274D3-CA02-37BD-2EF2-FE4458AAD59E}"/>
              </a:ext>
            </a:extLst>
          </p:cNvPr>
          <p:cNvSpPr txBox="1"/>
          <p:nvPr/>
        </p:nvSpPr>
        <p:spPr>
          <a:xfrm>
            <a:off x="8573585" y="5257538"/>
            <a:ext cx="5400336" cy="41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local distributors.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4880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FA7629-0A82-D518-25A0-6046A2E4729C}"/>
              </a:ext>
            </a:extLst>
          </p:cNvPr>
          <p:cNvSpPr txBox="1"/>
          <p:nvPr/>
        </p:nvSpPr>
        <p:spPr>
          <a:xfrm>
            <a:off x="4336869" y="3405056"/>
            <a:ext cx="7040880" cy="857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8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60843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693</Words>
  <Application>Microsoft Office PowerPoint</Application>
  <PresentationFormat>Custom</PresentationFormat>
  <Paragraphs>141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Manrope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Harshit Verma</cp:lastModifiedBy>
  <cp:revision>6</cp:revision>
  <dcterms:created xsi:type="dcterms:W3CDTF">2025-11-12T06:47:18Z</dcterms:created>
  <dcterms:modified xsi:type="dcterms:W3CDTF">2025-12-27T10:34:43Z</dcterms:modified>
</cp:coreProperties>
</file>